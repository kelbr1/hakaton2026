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64" r:id="rId3"/>
    <p:sldId id="257" r:id="rId4"/>
    <p:sldId id="258" r:id="rId5"/>
    <p:sldId id="269" r:id="rId6"/>
    <p:sldId id="265" r:id="rId7"/>
    <p:sldId id="259" r:id="rId8"/>
    <p:sldId id="260" r:id="rId9"/>
    <p:sldId id="266" r:id="rId10"/>
    <p:sldId id="270" r:id="rId11"/>
    <p:sldId id="272" r:id="rId12"/>
    <p:sldId id="261" r:id="rId13"/>
    <p:sldId id="267" r:id="rId14"/>
    <p:sldId id="271" r:id="rId15"/>
    <p:sldId id="262" r:id="rId16"/>
    <p:sldId id="268" r:id="rId17"/>
    <p:sldId id="263" r:id="rId18"/>
  </p:sldIdLst>
  <p:sldSz cx="12192000" cy="6858000"/>
  <p:notesSz cx="6858000" cy="12192000"/>
  <p:embeddedFontLst>
    <p:embeddedFont>
      <p:font typeface="Noto Sans" panose="020B0502040504020204" pitchFamily="34" charset="0"/>
      <p:regular r:id="rId20"/>
      <p:bold r:id="rId21"/>
    </p:embeddedFont>
    <p:embeddedFont>
      <p:font typeface="Noto Sans Black" panose="020B0604020202020204" charset="0"/>
      <p:regular r:id="rId22"/>
    </p:embeddedFont>
    <p:embeddedFont>
      <p:font typeface="Noto Sans Bold" panose="020B0802040504020204" charset="0"/>
      <p:regular r:id="rId23"/>
    </p:embeddedFont>
    <p:embeddedFont>
      <p:font typeface="Noto Sans ExtraBold" panose="020B0604020202020204" charset="0"/>
      <p:regular r:id="rId24"/>
    </p:embeddedFont>
    <p:embeddedFont>
      <p:font typeface="Noto Sans SemiBold" panose="020B0604020202020204" charset="0"/>
      <p:regular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8766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jp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13.png"/><Relationship Id="rId4" Type="http://schemas.openxmlformats.org/officeDocument/2006/relationships/image" Target="../media/image25.png"/><Relationship Id="rId9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480000">
            <a:off x="685783" y="1473200"/>
            <a:ext cx="8940576" cy="2661841"/>
          </a:xfrm>
          <a:prstGeom prst="rect">
            <a:avLst/>
          </a:prstGeom>
          <a:noFill/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 rot="21480000">
            <a:off x="1028674" y="1790700"/>
            <a:ext cx="8254793" cy="2026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200" kern="100" spc="-126" dirty="0">
                <a:solidFill>
                  <a:srgbClr val="111111"/>
                </a:solidFill>
                <a:latin typeface="Noto Sans Black" pitchFamily="34" charset="0"/>
                <a:ea typeface="Noto Sans Black" pitchFamily="34" charset="-122"/>
                <a:cs typeface="Noto Sans Black" pitchFamily="34" charset="0"/>
              </a:rPr>
              <a:t>ГОРБАТКА.ЛЕКТОРИЙ — ИНТЕЛЛЕКТУАЛЬНЫЙ ПОИСК И СЕМАНТИЧЕСКИЙ АНАЛИЗ ВИДЕОЛЕКЦИЙ</a:t>
            </a:r>
            <a:endParaRPr lang="en-US" sz="4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80000">
            <a:off x="650859" y="1438275"/>
            <a:ext cx="9010425" cy="2731691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6321" y="3596615"/>
            <a:ext cx="2709805" cy="291597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15975" y="5219002"/>
            <a:ext cx="8432589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Команда «Горбатка» | Хакатон «Киберрывок 2026»</a:t>
            </a:r>
            <a:endParaRPr lang="en-US" sz="1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9746" y="228600"/>
            <a:ext cx="1574761" cy="1574800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32909" y="6070600"/>
            <a:ext cx="279393" cy="533400"/>
          </a:xfrm>
          <a:prstGeom prst="rect">
            <a:avLst/>
          </a:prstGeom>
        </p:spPr>
      </p:pic>
      <p:sp>
        <p:nvSpPr>
          <p:cNvPr id="9" name="Shape 2">
            <a:extLst>
              <a:ext uri="{FF2B5EF4-FFF2-40B4-BE49-F238E27FC236}">
                <a16:creationId xmlns:a16="http://schemas.microsoft.com/office/drawing/2014/main" id="{C292BC13-3CFC-5CB8-8921-292EBDEF88BD}"/>
              </a:ext>
            </a:extLst>
          </p:cNvPr>
          <p:cNvSpPr/>
          <p:nvPr/>
        </p:nvSpPr>
        <p:spPr>
          <a:xfrm>
            <a:off x="642057" y="7108626"/>
            <a:ext cx="2514537" cy="4089797"/>
          </a:xfrm>
          <a:prstGeom prst="roundRect">
            <a:avLst>
              <a:gd name="adj" fmla="val 1212"/>
            </a:avLst>
          </a:prstGeom>
          <a:noFill/>
          <a:ln w="25399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AEDD0D1A-1343-0FD4-43DF-79082E7E0A23}"/>
              </a:ext>
            </a:extLst>
          </p:cNvPr>
          <p:cNvSpPr/>
          <p:nvPr/>
        </p:nvSpPr>
        <p:spPr>
          <a:xfrm>
            <a:off x="3581463" y="7118052"/>
            <a:ext cx="2514537" cy="4089797"/>
          </a:xfrm>
          <a:prstGeom prst="roundRect">
            <a:avLst>
              <a:gd name="adj" fmla="val 1212"/>
            </a:avLst>
          </a:prstGeom>
          <a:noFill/>
          <a:ln w="25399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9475F2B4-9540-263B-32FA-7B9E8A1D1AB4}"/>
              </a:ext>
            </a:extLst>
          </p:cNvPr>
          <p:cNvSpPr/>
          <p:nvPr/>
        </p:nvSpPr>
        <p:spPr>
          <a:xfrm>
            <a:off x="6648294" y="7137003"/>
            <a:ext cx="2514537" cy="4089797"/>
          </a:xfrm>
          <a:prstGeom prst="roundRect">
            <a:avLst>
              <a:gd name="adj" fmla="val 1212"/>
            </a:avLst>
          </a:prstGeom>
          <a:noFill/>
          <a:ln w="25399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35C4E49D-D037-7521-ECB6-C85DC7307493}"/>
              </a:ext>
            </a:extLst>
          </p:cNvPr>
          <p:cNvSpPr/>
          <p:nvPr/>
        </p:nvSpPr>
        <p:spPr>
          <a:xfrm>
            <a:off x="9670085" y="7165479"/>
            <a:ext cx="2514537" cy="4089797"/>
          </a:xfrm>
          <a:prstGeom prst="roundRect">
            <a:avLst>
              <a:gd name="adj" fmla="val 1212"/>
            </a:avLst>
          </a:prstGeom>
          <a:noFill/>
          <a:ln w="25399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716915"/>
            <a:ext cx="10972526" cy="675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5600" kern="100" spc="-168" dirty="0">
                <a:solidFill>
                  <a:srgbClr val="111111"/>
                </a:solidFill>
                <a:latin typeface="Noto Sans Black" pitchFamily="34" charset="0"/>
                <a:ea typeface="Noto Sans Black" pitchFamily="34" charset="-122"/>
                <a:cs typeface="Noto Sans Black" pitchFamily="34" charset="0"/>
              </a:rPr>
              <a:t>КОМАНДА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609585" y="1501465"/>
            <a:ext cx="10972526" cy="279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2100" kern="100" spc="21" dirty="0">
                <a:solidFill>
                  <a:srgbClr val="111111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0"/>
              </a:rPr>
              <a:t>КОМАНДА «ГОРБАТКА» — КТО ЧЕМ ЗАНИМАЛСЯ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9585" y="2104926"/>
            <a:ext cx="2514537" cy="4089797"/>
          </a:xfrm>
          <a:prstGeom prst="roundRect">
            <a:avLst>
              <a:gd name="adj" fmla="val 1212"/>
            </a:avLst>
          </a:prstGeom>
          <a:noFill/>
          <a:ln w="25399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863578" y="2363291"/>
            <a:ext cx="2260543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707070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Фото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63577" y="4145248"/>
            <a:ext cx="2260543" cy="559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ru-RU" sz="2100" kern="100" spc="21" dirty="0" err="1">
                <a:solidFill>
                  <a:srgbClr val="111111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0"/>
              </a:rPr>
              <a:t>Агликаев</a:t>
            </a:r>
            <a:r>
              <a:rPr lang="ru-RU" sz="2100" kern="100" spc="21" dirty="0">
                <a:solidFill>
                  <a:srgbClr val="111111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0"/>
              </a:rPr>
              <a:t> Матвей</a:t>
            </a:r>
            <a:br>
              <a:rPr lang="ru-RU" sz="2100" kern="100" spc="21" dirty="0">
                <a:solidFill>
                  <a:srgbClr val="111111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0"/>
              </a:rPr>
            </a:br>
            <a:r>
              <a:rPr lang="ru-RU" sz="2100" kern="100" spc="21" dirty="0" err="1">
                <a:solidFill>
                  <a:srgbClr val="111111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0"/>
              </a:rPr>
              <a:t>Рафаилевич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63578" y="4830012"/>
            <a:ext cx="2006550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Машинное обучение: ASR и семантический поиск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28914" y="2104926"/>
            <a:ext cx="2514537" cy="4089797"/>
          </a:xfrm>
          <a:prstGeom prst="roundRect">
            <a:avLst>
              <a:gd name="adj" fmla="val 1212"/>
            </a:avLst>
          </a:prstGeom>
          <a:noFill/>
          <a:ln w="25399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3682908" y="2363291"/>
            <a:ext cx="2260543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707070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Фото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82908" y="4145248"/>
            <a:ext cx="2131296" cy="684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ru-RU" sz="2100" kern="100" spc="21" dirty="0" err="1">
                <a:solidFill>
                  <a:srgbClr val="111111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0"/>
              </a:rPr>
              <a:t>Узинг</a:t>
            </a:r>
            <a:r>
              <a:rPr lang="ru-RU" sz="2100" kern="100" spc="21" dirty="0">
                <a:solidFill>
                  <a:srgbClr val="111111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0"/>
              </a:rPr>
              <a:t> Георгий</a:t>
            </a:r>
            <a:br>
              <a:rPr lang="ru-RU" sz="2100" kern="100" spc="21" dirty="0">
                <a:solidFill>
                  <a:srgbClr val="111111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0"/>
              </a:rPr>
            </a:br>
            <a:r>
              <a:rPr lang="ru-RU" sz="2100" kern="100" spc="21" dirty="0">
                <a:solidFill>
                  <a:srgbClr val="111111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0"/>
              </a:rPr>
              <a:t>Константинович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682908" y="4830012"/>
            <a:ext cx="2006550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Backend: API, стриминг, RAG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48244" y="2104926"/>
            <a:ext cx="2514537" cy="4089797"/>
          </a:xfrm>
          <a:prstGeom prst="roundRect">
            <a:avLst>
              <a:gd name="adj" fmla="val 1212"/>
            </a:avLst>
          </a:prstGeom>
          <a:noFill/>
          <a:ln w="25399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6502237" y="2363291"/>
            <a:ext cx="2260543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707070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Фото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02236" y="4145248"/>
            <a:ext cx="2132805" cy="559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ru-RU" sz="2100" kern="100" spc="21" dirty="0">
                <a:solidFill>
                  <a:srgbClr val="111111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0"/>
              </a:rPr>
              <a:t>Шавырин Артём</a:t>
            </a:r>
            <a:br>
              <a:rPr lang="ru-RU" sz="2100" kern="100" spc="21" dirty="0">
                <a:solidFill>
                  <a:srgbClr val="111111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0"/>
              </a:rPr>
            </a:br>
            <a:r>
              <a:rPr lang="ru-RU" sz="2100" kern="100" spc="21" dirty="0">
                <a:solidFill>
                  <a:srgbClr val="111111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0"/>
              </a:rPr>
              <a:t>Антонович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502237" y="4830012"/>
            <a:ext cx="2006550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Frontend и UX/UI: плеер и интерфейс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067573" y="2104926"/>
            <a:ext cx="2514537" cy="4089797"/>
          </a:xfrm>
          <a:prstGeom prst="roundRect">
            <a:avLst>
              <a:gd name="adj" fmla="val 1212"/>
            </a:avLst>
          </a:prstGeom>
          <a:noFill/>
          <a:ln w="25399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9321567" y="2363291"/>
            <a:ext cx="2260543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707070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Фото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321567" y="4145248"/>
            <a:ext cx="2006550" cy="559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ru-RU" sz="2100" kern="100" spc="21" dirty="0">
                <a:solidFill>
                  <a:srgbClr val="111111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0"/>
              </a:rPr>
              <a:t>Белов Илья</a:t>
            </a:r>
            <a:br>
              <a:rPr lang="ru-RU" sz="2100" kern="100" spc="21" dirty="0">
                <a:solidFill>
                  <a:srgbClr val="111111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0"/>
              </a:rPr>
            </a:br>
            <a:r>
              <a:rPr lang="ru-RU" sz="2100" kern="100" spc="21" dirty="0">
                <a:solidFill>
                  <a:srgbClr val="111111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0"/>
              </a:rPr>
              <a:t>Михайлович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321567" y="4830012"/>
            <a:ext cx="2006550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Продукт и презентация: идея, тесты на лекциях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81566" y="165100"/>
            <a:ext cx="27939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02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71330" y="179090"/>
            <a:ext cx="2858520" cy="251420"/>
          </a:xfrm>
          <a:prstGeom prst="rect">
            <a:avLst/>
          </a:prstGeom>
          <a:noFill/>
          <a:ln/>
        </p:spPr>
        <p:txBody>
          <a:bodyPr wrap="none" lIns="114297" tIns="38099" rIns="76198" bIns="38099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kern="100" spc="320" dirty="0">
                <a:solidFill>
                  <a:srgbClr val="11111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ГОРБАТКА.ЛЕКТОРИЙ</a:t>
            </a:r>
            <a:endParaRPr lang="en-US" sz="1000" dirty="0"/>
          </a:p>
        </p:txBody>
      </p:sp>
      <p:pic>
        <p:nvPicPr>
          <p:cNvPr id="22" name="Image 2" descr="preencoded.png">
            <a:extLst>
              <a:ext uri="{FF2B5EF4-FFF2-40B4-BE49-F238E27FC236}">
                <a16:creationId xmlns:a16="http://schemas.microsoft.com/office/drawing/2014/main" id="{21FEED85-6B8B-DDB1-2464-6D9A7B0F1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15977" y="4619923"/>
            <a:ext cx="1574761" cy="1574800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72B8E36C-54C1-8153-2169-63B46B15F3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2236" y="2697751"/>
            <a:ext cx="1343224" cy="1343224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7D15ADFF-CF20-99F0-CF7E-F25A14DAE1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1567" y="2697750"/>
            <a:ext cx="1343225" cy="1343225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ED16CA19-13E0-5A77-91D6-CCD992A413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2908" y="2767637"/>
            <a:ext cx="1322725" cy="132272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9D187D8D-516C-2C4A-FD2E-2C5D5F8676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596" y="2793639"/>
            <a:ext cx="1343224" cy="13432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677228"/>
            <a:ext cx="10870928" cy="434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kern="100" spc="-108" dirty="0">
                <a:solidFill>
                  <a:srgbClr val="111111"/>
                </a:solidFill>
                <a:latin typeface="Noto Sans Black" pitchFamily="34" charset="0"/>
                <a:ea typeface="Noto Sans Black" pitchFamily="34" charset="-122"/>
                <a:cs typeface="Noto Sans Black" pitchFamily="34" charset="0"/>
              </a:rPr>
              <a:t>ПРОБЛЕМА И АКТУАЛЬНОСТЬ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60383" y="1260606"/>
            <a:ext cx="10870928" cy="806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3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Миллионы часов учебного видео остаются неструктурированным "мертвым грузом"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60383" y="2474615"/>
            <a:ext cx="3318784" cy="3504803"/>
          </a:xfrm>
          <a:prstGeom prst="rect">
            <a:avLst/>
          </a:prstGeom>
          <a:noFill/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901677" y="2753316"/>
            <a:ext cx="2836196" cy="266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b="1" dirty="0">
                <a:latin typeface="Noto Sans" pitchFamily="34" charset="0"/>
                <a:ea typeface="Noto Sans" pitchFamily="34" charset="-122"/>
                <a:cs typeface="Noto Sans" pitchFamily="34" charset="0"/>
              </a:rPr>
              <a:t>Потеря 80% времени: </a:t>
            </a:r>
            <a:r>
              <a:rPr lang="en-US" sz="19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Студенты часами перематывают видео в поисках одного определения, закона или формулы. Текстовый поиск по видео не работает.</a:t>
            </a:r>
            <a:endParaRPr lang="en-US" sz="1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9" y="2435203"/>
            <a:ext cx="3388632" cy="357465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64950" y="2740616"/>
            <a:ext cx="2861695" cy="2330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Отсутствие разметки: </a:t>
            </a:r>
            <a:r>
              <a:rPr lang="en-US" sz="19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Преподавателям некогда вручную расставлять таймкоды, делить лекцию на главы и выписывать глоссарий.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992271" y="2740616"/>
            <a:ext cx="3853352" cy="3089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Риски облачных сервисов: </a:t>
            </a:r>
            <a:endParaRPr lang="ru-RU" sz="1900" b="1" dirty="0">
              <a:solidFill>
                <a:srgbClr val="111111"/>
              </a:solidFill>
              <a:latin typeface="Noto Sans" pitchFamily="34" charset="0"/>
              <a:ea typeface="Noto Sans" pitchFamily="34" charset="-122"/>
              <a:cs typeface="Noto Sans" pitchFamily="34" charset="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dirty="0" err="1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Внешние</a:t>
            </a:r>
            <a:r>
              <a:rPr lang="en-US" sz="19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API (OpenAI, Whisper Cloud) платные, требуют высокоскоростной интернет и нарушают конфиденциальность образовательных данных.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81566" y="165100"/>
            <a:ext cx="27939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0</a:t>
            </a:r>
            <a:r>
              <a:rPr lang="ru-RU" sz="1000" dirty="0">
                <a:solidFill>
                  <a:srgbClr val="11111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3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971330" y="179090"/>
            <a:ext cx="2858520" cy="251420"/>
          </a:xfrm>
          <a:prstGeom prst="rect">
            <a:avLst/>
          </a:prstGeom>
          <a:noFill/>
          <a:ln/>
        </p:spPr>
        <p:txBody>
          <a:bodyPr wrap="none" lIns="114297" tIns="38099" rIns="76198" bIns="38099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kern="100" spc="320" dirty="0">
                <a:solidFill>
                  <a:srgbClr val="11111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ГОРБАТКА.ЛЕКТОРИЙ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0129" y="5486400"/>
            <a:ext cx="1371566" cy="1371600"/>
          </a:xfrm>
          <a:prstGeom prst="rect">
            <a:avLst/>
          </a:prstGeom>
        </p:spPr>
      </p:pic>
      <p:pic>
        <p:nvPicPr>
          <p:cNvPr id="14" name="Image 2" descr="preencoded.png">
            <a:extLst>
              <a:ext uri="{FF2B5EF4-FFF2-40B4-BE49-F238E27FC236}">
                <a16:creationId xmlns:a16="http://schemas.microsoft.com/office/drawing/2014/main" id="{FBAE2A33-180A-0559-3823-30A8C203FE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9746" y="228600"/>
            <a:ext cx="1574761" cy="1574800"/>
          </a:xfrm>
          <a:prstGeom prst="rect">
            <a:avLst/>
          </a:prstGeom>
        </p:spPr>
      </p:pic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04A8A12F-C63A-0161-9B85-97C1B5E1EC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22314" y="5695842"/>
            <a:ext cx="1803401" cy="18034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615950"/>
            <a:ext cx="10870928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000" kern="100" spc="-90" dirty="0">
                <a:solidFill>
                  <a:srgbClr val="111111"/>
                </a:solidFill>
                <a:latin typeface="Noto Sans Black" pitchFamily="34" charset="0"/>
                <a:ea typeface="Noto Sans Black" pitchFamily="34" charset="-122"/>
                <a:cs typeface="Noto Sans Black" pitchFamily="34" charset="0"/>
              </a:rPr>
              <a:t>ПРЕДЛАГАЕМОЕ РЕШЕНИЕ: «ГОРБАТКА.ЛЕКТОРИЙ»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60383" y="1135952"/>
            <a:ext cx="11480513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100% автономная локальная среда для работы с видеоматериалами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60383" y="1641077"/>
            <a:ext cx="5283068" cy="4750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Семантический векторный поиск: </a:t>
            </a:r>
            <a:br>
              <a:rPr lang="ru-RU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</a:br>
            <a:r>
              <a:rPr lang="en-US" dirty="0" err="1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Поиск</a:t>
            </a:r>
            <a:r>
              <a:rPr lang="en-US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по смыслу речи на естественном языке, а не только по точным совпадениям </a:t>
            </a:r>
            <a:r>
              <a:rPr lang="en-US" dirty="0" err="1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слов</a:t>
            </a:r>
            <a:r>
              <a:rPr lang="en-US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.</a:t>
            </a:r>
            <a:endParaRPr lang="ru-RU" dirty="0">
              <a:solidFill>
                <a:srgbClr val="111111"/>
              </a:solidFill>
              <a:latin typeface="Noto Sans" pitchFamily="34" charset="0"/>
              <a:ea typeface="Noto Sans" pitchFamily="34" charset="-122"/>
              <a:cs typeface="Noto Sans" pitchFamily="34" charset="0"/>
            </a:endParaRPr>
          </a:p>
          <a:p>
            <a:pPr algn="l">
              <a:lnSpc>
                <a:spcPct val="115000"/>
              </a:lnSpc>
              <a:buSzPct val="100000"/>
            </a:pPr>
            <a:endParaRPr lang="en-US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Синхронизированный транскрипт:</a:t>
            </a:r>
            <a:r>
              <a:rPr lang="en-US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Живой автоскролл субтитров параллельно с видеорядом с микросекундной </a:t>
            </a:r>
            <a:r>
              <a:rPr lang="en-US" dirty="0" err="1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точностью</a:t>
            </a:r>
            <a:r>
              <a:rPr lang="en-US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.</a:t>
            </a:r>
            <a:endParaRPr lang="ru-RU" dirty="0">
              <a:solidFill>
                <a:srgbClr val="111111"/>
              </a:solidFill>
              <a:latin typeface="Noto Sans" pitchFamily="34" charset="0"/>
              <a:ea typeface="Noto Sans" pitchFamily="34" charset="-122"/>
              <a:cs typeface="Noto Sans" pitchFamily="34" charset="0"/>
            </a:endParaRPr>
          </a:p>
          <a:p>
            <a:pPr algn="l">
              <a:lnSpc>
                <a:spcPct val="115000"/>
              </a:lnSpc>
              <a:buSzPct val="100000"/>
            </a:pPr>
            <a:endParaRPr lang="en-US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Автоматический конспект и глоссарий: </a:t>
            </a:r>
            <a:r>
              <a:rPr lang="en-US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Генерация Markdown-конспекта, разбивка на главы и термины с кликабельными таймкодами.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48244" y="1641078"/>
            <a:ext cx="5283068" cy="2902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Локальный RAG-ассистент: </a:t>
            </a:r>
            <a:br>
              <a:rPr lang="ru-RU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</a:br>
            <a:r>
              <a:rPr lang="en-US" dirty="0" err="1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Ответы</a:t>
            </a:r>
            <a:r>
              <a:rPr lang="en-US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на любые вопросы по содержанию лекции со ссылками на таймкод </a:t>
            </a:r>
            <a:r>
              <a:rPr lang="en-US" dirty="0" err="1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первоисточника</a:t>
            </a:r>
            <a:r>
              <a:rPr lang="en-US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.</a:t>
            </a:r>
            <a:endParaRPr lang="ru-RU" dirty="0">
              <a:solidFill>
                <a:srgbClr val="111111"/>
              </a:solidFill>
              <a:latin typeface="Noto Sans" pitchFamily="34" charset="0"/>
              <a:ea typeface="Noto Sans" pitchFamily="34" charset="-122"/>
              <a:cs typeface="Noto Sans" pitchFamily="34" charset="0"/>
            </a:endParaRPr>
          </a:p>
          <a:p>
            <a:pPr algn="l">
              <a:lnSpc>
                <a:spcPct val="115000"/>
              </a:lnSpc>
              <a:buSzPct val="100000"/>
            </a:pPr>
            <a:endParaRPr lang="en-US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Премиальный UX/UI: </a:t>
            </a:r>
            <a:br>
              <a:rPr lang="ru-RU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</a:br>
            <a:r>
              <a:rPr lang="en-US" dirty="0" err="1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Дизайн-система</a:t>
            </a:r>
            <a:r>
              <a:rPr lang="en-US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уровня Apple Pro с </a:t>
            </a:r>
            <a:r>
              <a:rPr lang="en-US" dirty="0" err="1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темной</a:t>
            </a:r>
            <a:r>
              <a:rPr lang="en-US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</a:t>
            </a:r>
            <a:r>
              <a:rPr lang="ru-RU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и светлой </a:t>
            </a:r>
            <a:r>
              <a:rPr lang="en-US" dirty="0" err="1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темой</a:t>
            </a:r>
            <a:r>
              <a:rPr lang="en-US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, категоризацией и поддержкой мобильных устройств.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81566" y="165100"/>
            <a:ext cx="27939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0</a:t>
            </a:r>
            <a:r>
              <a:rPr lang="ru-RU" sz="1000" dirty="0">
                <a:solidFill>
                  <a:srgbClr val="11111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71330" y="179090"/>
            <a:ext cx="2858520" cy="251420"/>
          </a:xfrm>
          <a:prstGeom prst="rect">
            <a:avLst/>
          </a:prstGeom>
          <a:noFill/>
          <a:ln/>
        </p:spPr>
        <p:txBody>
          <a:bodyPr wrap="none" lIns="114297" tIns="38099" rIns="76198" bIns="38099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kern="100" spc="320" dirty="0">
                <a:solidFill>
                  <a:srgbClr val="11111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ГОРБАТКА.ЛЕКТОРИЙ</a:t>
            </a:r>
            <a:endParaRPr lang="en-US" sz="10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2007" y="-285773"/>
            <a:ext cx="1803401" cy="1803446"/>
          </a:xfrm>
          <a:prstGeom prst="rect">
            <a:avLst/>
          </a:prstGeom>
        </p:spPr>
      </p:pic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37375820-3300-D259-909E-33DF8652C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7" y="4846418"/>
            <a:ext cx="1832447" cy="183249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CA5A22A-49F8-1333-0B13-97C390AFB9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959" y="7064134"/>
            <a:ext cx="10975084" cy="5111286"/>
          </a:xfrm>
          <a:prstGeom prst="round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1A4DAEC-9D10-7FE7-A8BB-D3558CE9B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458" y="1049844"/>
            <a:ext cx="10975084" cy="5111286"/>
          </a:xfrm>
          <a:prstGeom prst="round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16490FD9-9D54-07C1-C953-BEF244F1327D}"/>
              </a:ext>
            </a:extLst>
          </p:cNvPr>
          <p:cNvSpPr/>
          <p:nvPr/>
        </p:nvSpPr>
        <p:spPr>
          <a:xfrm>
            <a:off x="3589590" y="482599"/>
            <a:ext cx="10870928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ru-RU" sz="3000" kern="100" spc="-90" dirty="0">
                <a:solidFill>
                  <a:srgbClr val="111111"/>
                </a:solidFill>
                <a:latin typeface="Noto Sans Black" pitchFamily="34" charset="0"/>
                <a:ea typeface="Noto Sans Black" pitchFamily="34" charset="-122"/>
                <a:cs typeface="Noto Sans Black" pitchFamily="34" charset="0"/>
              </a:rPr>
              <a:t>РЕГИСТРАЦИЯ ПРИ ВХОДЕ</a:t>
            </a:r>
            <a:endParaRPr lang="en-US" sz="3000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44EE7C42-F6DC-392A-B1FB-2480DAF4B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723145">
            <a:off x="11457898" y="849406"/>
            <a:ext cx="1832447" cy="1832492"/>
          </a:xfrm>
          <a:prstGeom prst="rect">
            <a:avLst/>
          </a:prstGeom>
        </p:spPr>
      </p:pic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560D17C3-5C0C-0F5C-BFC7-A20EB38EA4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01945" y="4260849"/>
            <a:ext cx="1403890" cy="1403925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70BC08AC-E042-B8C7-D389-54832335D82F}"/>
              </a:ext>
            </a:extLst>
          </p:cNvPr>
          <p:cNvSpPr/>
          <p:nvPr/>
        </p:nvSpPr>
        <p:spPr>
          <a:xfrm>
            <a:off x="181566" y="165100"/>
            <a:ext cx="27939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0</a:t>
            </a:r>
            <a:r>
              <a:rPr lang="ru-RU" sz="1000" dirty="0">
                <a:solidFill>
                  <a:srgbClr val="11111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5</a:t>
            </a:r>
            <a:endParaRPr lang="en-US" sz="10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C70736C-2744-978B-D1EB-6006C7F66E4D}"/>
              </a:ext>
            </a:extLst>
          </p:cNvPr>
          <p:cNvSpPr/>
          <p:nvPr/>
        </p:nvSpPr>
        <p:spPr>
          <a:xfrm>
            <a:off x="4971330" y="179090"/>
            <a:ext cx="2858520" cy="251420"/>
          </a:xfrm>
          <a:prstGeom prst="rect">
            <a:avLst/>
          </a:prstGeom>
          <a:noFill/>
          <a:ln/>
        </p:spPr>
        <p:txBody>
          <a:bodyPr wrap="none" lIns="114297" tIns="38099" rIns="76198" bIns="38099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kern="100" spc="320" dirty="0">
                <a:solidFill>
                  <a:srgbClr val="11111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ГОРБАТКА.ЛЕКТОРИЙ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35409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C2F2F28-9944-C561-20DE-0A469D2BE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35" y="1164693"/>
            <a:ext cx="10870929" cy="4991344"/>
          </a:xfrm>
          <a:prstGeom prst="roundRect">
            <a:avLst/>
          </a:prstGeom>
          <a:effectLst>
            <a:softEdge rad="0"/>
          </a:effectLst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16490FD9-9D54-07C1-C953-BEF244F1327D}"/>
              </a:ext>
            </a:extLst>
          </p:cNvPr>
          <p:cNvSpPr/>
          <p:nvPr/>
        </p:nvSpPr>
        <p:spPr>
          <a:xfrm>
            <a:off x="3589590" y="482599"/>
            <a:ext cx="10870928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ru-RU" sz="3000" kern="100" spc="-90" dirty="0">
                <a:solidFill>
                  <a:srgbClr val="111111"/>
                </a:solidFill>
                <a:latin typeface="Noto Sans Black" pitchFamily="34" charset="0"/>
                <a:ea typeface="Noto Sans Black" pitchFamily="34" charset="-122"/>
                <a:cs typeface="Noto Sans Black" pitchFamily="34" charset="0"/>
              </a:rPr>
              <a:t>ГЛАВНЫЙ ЭКРАН </a:t>
            </a:r>
            <a:r>
              <a:rPr lang="en-US" sz="3000" kern="100" spc="-90" dirty="0">
                <a:solidFill>
                  <a:srgbClr val="111111"/>
                </a:solidFill>
                <a:latin typeface="Noto Sans Black" pitchFamily="34" charset="0"/>
                <a:ea typeface="Noto Sans Black" pitchFamily="34" charset="-122"/>
                <a:cs typeface="Noto Sans Black" pitchFamily="34" charset="0"/>
              </a:rPr>
              <a:t>/ </a:t>
            </a:r>
            <a:r>
              <a:rPr lang="ru-RU" sz="3000" kern="100" spc="-90" dirty="0">
                <a:solidFill>
                  <a:srgbClr val="111111"/>
                </a:solidFill>
                <a:latin typeface="Noto Sans Black" pitchFamily="34" charset="0"/>
                <a:ea typeface="Noto Sans Black" pitchFamily="34" charset="-122"/>
                <a:cs typeface="Noto Sans Black" pitchFamily="34" charset="0"/>
              </a:rPr>
              <a:t>ПОИСК</a:t>
            </a:r>
            <a:endParaRPr lang="en-US" sz="3000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44EE7C42-F6DC-392A-B1FB-2480DAF4B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7854034">
            <a:off x="-594962" y="200197"/>
            <a:ext cx="1832447" cy="1832492"/>
          </a:xfrm>
          <a:prstGeom prst="rect">
            <a:avLst/>
          </a:prstGeom>
        </p:spPr>
      </p:pic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560D17C3-5C0C-0F5C-BFC7-A20EB38EA4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790" y="5454075"/>
            <a:ext cx="1403890" cy="1403925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70BC08AC-E042-B8C7-D389-54832335D82F}"/>
              </a:ext>
            </a:extLst>
          </p:cNvPr>
          <p:cNvSpPr/>
          <p:nvPr/>
        </p:nvSpPr>
        <p:spPr>
          <a:xfrm>
            <a:off x="181566" y="165100"/>
            <a:ext cx="27939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0</a:t>
            </a:r>
            <a:r>
              <a:rPr lang="ru-RU" sz="1000" dirty="0">
                <a:solidFill>
                  <a:srgbClr val="11111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6</a:t>
            </a:r>
            <a:endParaRPr lang="en-US" sz="10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C70736C-2744-978B-D1EB-6006C7F66E4D}"/>
              </a:ext>
            </a:extLst>
          </p:cNvPr>
          <p:cNvSpPr/>
          <p:nvPr/>
        </p:nvSpPr>
        <p:spPr>
          <a:xfrm>
            <a:off x="4971330" y="179090"/>
            <a:ext cx="2858520" cy="251420"/>
          </a:xfrm>
          <a:prstGeom prst="rect">
            <a:avLst/>
          </a:prstGeom>
          <a:noFill/>
          <a:ln/>
        </p:spPr>
        <p:txBody>
          <a:bodyPr wrap="none" lIns="114297" tIns="38099" rIns="76198" bIns="38099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kern="100" spc="320" dirty="0">
                <a:solidFill>
                  <a:srgbClr val="11111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ГОРБАТКА.ЛЕКТОРИЙ</a:t>
            </a:r>
            <a:endParaRPr lang="en-US" sz="10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3E961DE-4D70-7D79-EB10-572FEDD4DE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06" y="-5320748"/>
            <a:ext cx="10975084" cy="5111286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520978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75005"/>
            <a:ext cx="10972526" cy="386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200" kern="100" spc="-96" dirty="0">
                <a:solidFill>
                  <a:srgbClr val="111111"/>
                </a:solidFill>
                <a:latin typeface="Noto Sans Black" pitchFamily="34" charset="0"/>
                <a:ea typeface="Noto Sans Black" pitchFamily="34" charset="-122"/>
                <a:cs typeface="Noto Sans Black" pitchFamily="34" charset="0"/>
              </a:rPr>
              <a:t>ТЕХНИЧЕСКАЯ АРХИТЕКТУРА И АЛГОРИТМЫ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210862"/>
            <a:ext cx="11582110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Полностью автономный конвейер обработки данных (100% Local AI)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09585" y="1715988"/>
            <a:ext cx="5333867" cy="1242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111111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Речевая аналитика (ASR):</a:t>
            </a:r>
            <a:r>
              <a:rPr lang="en-US" sz="16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Faster-Whisper (CTranslate2) с автодетекцией NVIDIA CUDA (float16) и фоллбэком на CPU (int8)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1" y="2958207"/>
            <a:ext cx="5333867" cy="1803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Двухуровневое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квантование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текста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:</a:t>
            </a:r>
            <a:endParaRPr lang="ru-RU" sz="1600" dirty="0">
              <a:solidFill>
                <a:srgbClr val="111111"/>
              </a:solidFill>
              <a:latin typeface="Noto Sans" pitchFamily="34" charset="0"/>
              <a:ea typeface="Noto Sans" pitchFamily="34" charset="-122"/>
              <a:cs typeface="Noto Sans" pitchFamily="34" charset="0"/>
            </a:endParaRPr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dirty="0" err="1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Микросегменты</a:t>
            </a:r>
            <a:r>
              <a:rPr lang="en-US" sz="16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(3-7 с): для идеальной синхронизации видеоплеера и субтитров.</a:t>
            </a:r>
            <a:endParaRPr lang="en-US" sz="1600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Макроокна (35 с с перекрытием 10 с): для сохранения полного семантического контекста.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582" y="4805961"/>
            <a:ext cx="5333867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Векторный поиск:</a:t>
            </a:r>
            <a:r>
              <a:rPr lang="en-US" sz="16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Модель paraphrase-multilingual-MiniLM-L12-v2 через ONNX Runtime (FastEmbed) и косинусное сходство NumPy.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48244" y="1715988"/>
            <a:ext cx="5333867" cy="4141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111111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Генеративный ИИ и RAG:</a:t>
            </a:r>
            <a:r>
              <a:rPr lang="en-US" sz="16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Локальная LLM через Ollama (Qwen 2.5 / LLaMA 3.2) со встроенным алгоритмическим </a:t>
            </a:r>
            <a:r>
              <a:rPr lang="en-US" sz="1600" dirty="0" err="1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фоллбэком</a:t>
            </a:r>
            <a:r>
              <a:rPr lang="en-US" sz="16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.</a:t>
            </a:r>
            <a:endParaRPr lang="ru-RU" sz="1600" dirty="0">
              <a:solidFill>
                <a:srgbClr val="111111"/>
              </a:solidFill>
              <a:latin typeface="Noto Sans" pitchFamily="34" charset="0"/>
              <a:ea typeface="Noto Sans" pitchFamily="34" charset="-122"/>
              <a:cs typeface="Noto Sans" pitchFamily="34" charset="0"/>
            </a:endParaRPr>
          </a:p>
          <a:p>
            <a:pPr marL="0" indent="0" algn="l">
              <a:lnSpc>
                <a:spcPct val="115000"/>
              </a:lnSpc>
              <a:spcAft>
                <a:spcPts val="900"/>
              </a:spcAft>
              <a:buNone/>
            </a:pPr>
            <a:endParaRPr lang="ru-RU" sz="1600" dirty="0">
              <a:solidFill>
                <a:srgbClr val="111111"/>
              </a:solidFill>
              <a:latin typeface="Noto Sans" pitchFamily="34" charset="0"/>
              <a:ea typeface="Noto Sans" pitchFamily="34" charset="-122"/>
              <a:cs typeface="Noto Sans" pitchFamily="34" charset="0"/>
            </a:endParaRPr>
          </a:p>
          <a:p>
            <a:pPr marL="0" indent="0" algn="l">
              <a:lnSpc>
                <a:spcPct val="115000"/>
              </a:lnSpc>
              <a:spcAft>
                <a:spcPts val="900"/>
              </a:spcAft>
              <a:buNone/>
            </a:pP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Видеостриминг:</a:t>
            </a:r>
            <a:r>
              <a:rPr lang="en-US" sz="16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HTTP Range 206 Partial Content для </a:t>
            </a:r>
            <a:r>
              <a:rPr lang="en-US" sz="1600" dirty="0" err="1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мгновенного</a:t>
            </a:r>
            <a:r>
              <a:rPr lang="en-US" sz="16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</a:t>
            </a:r>
            <a:r>
              <a:rPr lang="ru-RU" sz="16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поиска</a:t>
            </a:r>
            <a:r>
              <a:rPr lang="en-US" sz="16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любого видеофайла без буферизации.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1566" y="165100"/>
            <a:ext cx="27939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0</a:t>
            </a:r>
            <a:r>
              <a:rPr lang="ru-RU" sz="1000" dirty="0">
                <a:solidFill>
                  <a:srgbClr val="11111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71330" y="179090"/>
            <a:ext cx="2858520" cy="251420"/>
          </a:xfrm>
          <a:prstGeom prst="rect">
            <a:avLst/>
          </a:prstGeom>
          <a:noFill/>
          <a:ln/>
        </p:spPr>
        <p:txBody>
          <a:bodyPr wrap="none" lIns="114297" tIns="38099" rIns="76198" bIns="38099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kern="100" spc="320" dirty="0">
                <a:solidFill>
                  <a:srgbClr val="11111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ГОРБАТКА.ЛЕКТОРИЙ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4611" y="203199"/>
            <a:ext cx="1403890" cy="1403925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9170" y="4870635"/>
            <a:ext cx="1707733" cy="1707776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3D7E079-FE03-4041-CE3A-8F65998B9A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779" y="-5148166"/>
            <a:ext cx="10870929" cy="4991344"/>
          </a:xfrm>
          <a:prstGeom prst="roundRect">
            <a:avLst/>
          </a:prstGeom>
          <a:effectLst>
            <a:softEdge rad="0"/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3783" y="-176114"/>
            <a:ext cx="2008217" cy="2008268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60383" y="622935"/>
            <a:ext cx="10870928" cy="410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400" kern="100" spc="-102" dirty="0">
                <a:solidFill>
                  <a:srgbClr val="111111"/>
                </a:solidFill>
                <a:latin typeface="Noto Sans Black" pitchFamily="34" charset="0"/>
                <a:ea typeface="Noto Sans Black" pitchFamily="34" charset="-122"/>
                <a:cs typeface="Noto Sans Black" pitchFamily="34" charset="0"/>
              </a:rPr>
              <a:t>ДЕМОНСТРАЦИЯ ПРОТОТИПА (MVP)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0383" y="1184172"/>
            <a:ext cx="11480513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Протестировано на реальных академических лекциях по физике, математике и ИИ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60383" y="1868380"/>
            <a:ext cx="5206870" cy="380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Импорт в 1 клик: Поддержка локальных видеофайлов (MP4, MKV) и прямых ссылок на YouTube через встроенный </a:t>
            </a:r>
            <a:r>
              <a:rPr lang="en-US" dirty="0" err="1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yt-dlp</a:t>
            </a:r>
            <a:r>
              <a:rPr lang="en-US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.</a:t>
            </a:r>
            <a:endParaRPr lang="ru-RU" dirty="0">
              <a:solidFill>
                <a:srgbClr val="111111"/>
              </a:solidFill>
              <a:latin typeface="Noto Sans" pitchFamily="34" charset="0"/>
              <a:ea typeface="Noto Sans" pitchFamily="34" charset="-122"/>
              <a:cs typeface="Noto Sans" pitchFamily="34" charset="0"/>
            </a:endParaRPr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endParaRPr lang="en-US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Spotlight-поиск: Сквозной семантический поиск по всей медиатеке пользователя прямо с главного </a:t>
            </a:r>
            <a:r>
              <a:rPr lang="en-US" dirty="0" err="1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экрана</a:t>
            </a:r>
            <a:r>
              <a:rPr lang="en-US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557355" y="1853151"/>
            <a:ext cx="5206870" cy="2299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Точные таймкоды терминов: Алгоритмический расчет корней слов на русском языке для определения первого момента произнесения термина.</a:t>
            </a:r>
            <a:endParaRPr lang="en-US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Экспорт знаний: Мгновенное копирование конспекта и скачивание в формате Markdown.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81566" y="165100"/>
            <a:ext cx="27939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0</a:t>
            </a:r>
            <a:r>
              <a:rPr lang="ru-RU" sz="1000" dirty="0">
                <a:solidFill>
                  <a:srgbClr val="11111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71330" y="179090"/>
            <a:ext cx="2858520" cy="251420"/>
          </a:xfrm>
          <a:prstGeom prst="rect">
            <a:avLst/>
          </a:prstGeom>
          <a:noFill/>
          <a:ln/>
        </p:spPr>
        <p:txBody>
          <a:bodyPr wrap="none" lIns="114297" tIns="38099" rIns="76198" bIns="38099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kern="100" spc="320" dirty="0">
                <a:solidFill>
                  <a:srgbClr val="11111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ГОРБАТКА.ЛЕКТОРИЙ</a:t>
            </a:r>
            <a:endParaRPr lang="en-US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384B04-CEC0-D624-72B1-59F817E661C4}"/>
              </a:ext>
            </a:extLst>
          </p:cNvPr>
          <p:cNvSpPr txBox="1"/>
          <p:nvPr/>
        </p:nvSpPr>
        <p:spPr>
          <a:xfrm>
            <a:off x="6477654" y="4196500"/>
            <a:ext cx="56632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Интерактивный</a:t>
            </a:r>
            <a:r>
              <a:rPr lang="en-US" sz="18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</a:t>
            </a:r>
            <a:r>
              <a:rPr lang="en-US" sz="1800" dirty="0" err="1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плеер</a:t>
            </a:r>
            <a:r>
              <a:rPr lang="en-US" sz="18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: </a:t>
            </a:r>
            <a:r>
              <a:rPr lang="en-US" sz="1800" dirty="0" err="1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Запоминание</a:t>
            </a:r>
            <a:r>
              <a:rPr lang="en-US" sz="18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</a:t>
            </a:r>
            <a:r>
              <a:rPr lang="en-US" sz="1800" dirty="0" err="1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прогресса</a:t>
            </a:r>
            <a:r>
              <a:rPr lang="en-US" sz="18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, </a:t>
            </a:r>
            <a:r>
              <a:rPr lang="en-US" sz="1800" dirty="0" err="1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скорости</a:t>
            </a:r>
            <a:r>
              <a:rPr lang="en-US" sz="18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</a:t>
            </a:r>
            <a:r>
              <a:rPr lang="en-US" sz="1800" dirty="0" err="1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от</a:t>
            </a:r>
            <a:r>
              <a:rPr lang="en-US" sz="18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0.75x </a:t>
            </a:r>
            <a:r>
              <a:rPr lang="en-US" sz="1800" dirty="0" err="1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до</a:t>
            </a:r>
            <a:r>
              <a:rPr lang="en-US" sz="18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2x, </a:t>
            </a:r>
            <a:r>
              <a:rPr lang="en-US" sz="1800" dirty="0" err="1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театральный</a:t>
            </a:r>
            <a:r>
              <a:rPr lang="en-US" sz="18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</a:t>
            </a:r>
            <a:r>
              <a:rPr lang="en-US" sz="1800" dirty="0" err="1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режим</a:t>
            </a:r>
            <a:r>
              <a:rPr lang="en-US" sz="18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, </a:t>
            </a:r>
            <a:r>
              <a:rPr lang="en-US" sz="1800" dirty="0" err="1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режим</a:t>
            </a:r>
            <a:r>
              <a:rPr lang="en-US" sz="18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</a:t>
            </a:r>
            <a:r>
              <a:rPr lang="en-US" sz="1800" dirty="0" err="1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PiP</a:t>
            </a:r>
            <a:r>
              <a:rPr lang="en-US" sz="18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и </a:t>
            </a:r>
            <a:r>
              <a:rPr lang="en-US" sz="1800" dirty="0" err="1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горячие</a:t>
            </a:r>
            <a:r>
              <a:rPr lang="en-US" sz="18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</a:t>
            </a:r>
            <a:r>
              <a:rPr lang="en-US" sz="1800" dirty="0" err="1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клавиши</a:t>
            </a:r>
            <a:r>
              <a:rPr lang="en-US" sz="18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.</a:t>
            </a:r>
            <a:endParaRPr lang="en-US" sz="1800" dirty="0"/>
          </a:p>
          <a:p>
            <a:endParaRPr lang="ru-RU" dirty="0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859D5BBD-72F4-0EB5-37A8-9B9D4B18E5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262" y="4935164"/>
            <a:ext cx="1707733" cy="1707776"/>
          </a:xfrm>
          <a:prstGeom prst="rect">
            <a:avLst/>
          </a:prstGeom>
        </p:spPr>
      </p:pic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150FFA37-3C75-51F0-46C9-9DF49904B5BF}"/>
              </a:ext>
            </a:extLst>
          </p:cNvPr>
          <p:cNvSpPr/>
          <p:nvPr/>
        </p:nvSpPr>
        <p:spPr>
          <a:xfrm>
            <a:off x="490390" y="-6061709"/>
            <a:ext cx="10753725" cy="5834361"/>
          </a:xfrm>
          <a:prstGeom prst="round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DF15190-1C14-AA41-0E5D-614628D7AB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694" y="7279593"/>
            <a:ext cx="10583118" cy="4581920"/>
          </a:xfrm>
          <a:prstGeom prst="round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7">
            <a:extLst>
              <a:ext uri="{FF2B5EF4-FFF2-40B4-BE49-F238E27FC236}">
                <a16:creationId xmlns:a16="http://schemas.microsoft.com/office/drawing/2014/main" id="{650753F9-D3C9-3F3C-4414-34D8794A6963}"/>
              </a:ext>
            </a:extLst>
          </p:cNvPr>
          <p:cNvSpPr/>
          <p:nvPr/>
        </p:nvSpPr>
        <p:spPr>
          <a:xfrm>
            <a:off x="4971330" y="179090"/>
            <a:ext cx="2858520" cy="251420"/>
          </a:xfrm>
          <a:prstGeom prst="rect">
            <a:avLst/>
          </a:prstGeom>
          <a:noFill/>
          <a:ln/>
        </p:spPr>
        <p:txBody>
          <a:bodyPr wrap="none" lIns="114297" tIns="38099" rIns="76198" bIns="38099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kern="100" spc="320" dirty="0">
                <a:solidFill>
                  <a:srgbClr val="11111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ГОРБАТКА.ЛЕКТОРИЙ</a:t>
            </a:r>
            <a:endParaRPr lang="en-US" sz="10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2339319F-6D15-183E-4D7A-9EF608B31828}"/>
              </a:ext>
            </a:extLst>
          </p:cNvPr>
          <p:cNvSpPr/>
          <p:nvPr/>
        </p:nvSpPr>
        <p:spPr>
          <a:xfrm>
            <a:off x="181566" y="165100"/>
            <a:ext cx="27939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0</a:t>
            </a:r>
            <a:r>
              <a:rPr lang="ru-RU" sz="1000" dirty="0">
                <a:solidFill>
                  <a:srgbClr val="11111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9</a:t>
            </a:r>
            <a:endParaRPr lang="en-US" sz="100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E43CBB6A-38CC-726D-1925-5D213A080E49}"/>
              </a:ext>
            </a:extLst>
          </p:cNvPr>
          <p:cNvSpPr/>
          <p:nvPr/>
        </p:nvSpPr>
        <p:spPr>
          <a:xfrm>
            <a:off x="2627565" y="482599"/>
            <a:ext cx="10870928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ru-RU" sz="3000" kern="100" spc="-90" dirty="0">
                <a:solidFill>
                  <a:srgbClr val="111111"/>
                </a:solidFill>
                <a:latin typeface="Noto Sans Black" pitchFamily="34" charset="0"/>
                <a:ea typeface="Noto Sans Black" pitchFamily="34" charset="-122"/>
                <a:cs typeface="Noto Sans Black" pitchFamily="34" charset="0"/>
              </a:rPr>
              <a:t>ПЛЕЕР И СИНХРОННЫЙ ТРАНСКРИПТ</a:t>
            </a:r>
            <a:endParaRPr lang="en-US" sz="3000" dirty="0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CA5C826D-3065-86F5-C374-1744739D3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99334" y="663574"/>
            <a:ext cx="2008217" cy="2008268"/>
          </a:xfrm>
          <a:prstGeom prst="rect">
            <a:avLst/>
          </a:prstGeom>
        </p:spPr>
      </p:pic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EE82ACC9-012B-FC4B-45B0-8EF506210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16204">
            <a:off x="11648058" y="5318118"/>
            <a:ext cx="1015027" cy="1110357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E9D6570-375F-08CD-7598-03C8B9BD9F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441" y="1539747"/>
            <a:ext cx="10583118" cy="458192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6326570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7">
            <a:extLst>
              <a:ext uri="{FF2B5EF4-FFF2-40B4-BE49-F238E27FC236}">
                <a16:creationId xmlns:a16="http://schemas.microsoft.com/office/drawing/2014/main" id="{650753F9-D3C9-3F3C-4414-34D8794A6963}"/>
              </a:ext>
            </a:extLst>
          </p:cNvPr>
          <p:cNvSpPr/>
          <p:nvPr/>
        </p:nvSpPr>
        <p:spPr>
          <a:xfrm>
            <a:off x="4971330" y="179090"/>
            <a:ext cx="2858520" cy="251420"/>
          </a:xfrm>
          <a:prstGeom prst="rect">
            <a:avLst/>
          </a:prstGeom>
          <a:noFill/>
          <a:ln/>
        </p:spPr>
        <p:txBody>
          <a:bodyPr wrap="none" lIns="114297" tIns="38099" rIns="76198" bIns="38099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kern="100" spc="320" dirty="0">
                <a:solidFill>
                  <a:srgbClr val="11111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ГОРБАТКА.ЛЕКТОРИЙ</a:t>
            </a:r>
            <a:endParaRPr lang="en-US" sz="10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2339319F-6D15-183E-4D7A-9EF608B31828}"/>
              </a:ext>
            </a:extLst>
          </p:cNvPr>
          <p:cNvSpPr/>
          <p:nvPr/>
        </p:nvSpPr>
        <p:spPr>
          <a:xfrm>
            <a:off x="181566" y="165100"/>
            <a:ext cx="27939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ru-RU" sz="1000" dirty="0">
                <a:solidFill>
                  <a:srgbClr val="11111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10</a:t>
            </a:r>
            <a:endParaRPr lang="en-US" sz="100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E43CBB6A-38CC-726D-1925-5D213A080E49}"/>
              </a:ext>
            </a:extLst>
          </p:cNvPr>
          <p:cNvSpPr/>
          <p:nvPr/>
        </p:nvSpPr>
        <p:spPr>
          <a:xfrm>
            <a:off x="3666252" y="482599"/>
            <a:ext cx="10870928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ru-RU" sz="3000" kern="100" spc="-90" dirty="0">
                <a:solidFill>
                  <a:srgbClr val="111111"/>
                </a:solidFill>
                <a:latin typeface="Noto Sans Black" pitchFamily="34" charset="0"/>
                <a:ea typeface="Noto Sans Black" pitchFamily="34" charset="-122"/>
                <a:cs typeface="Noto Sans Black" pitchFamily="34" charset="0"/>
              </a:rPr>
              <a:t>ПЛЕЕР И ЧАТ С ИИ АГЕНТОМ</a:t>
            </a:r>
            <a:endParaRPr lang="en-US" sz="3000" dirty="0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CA5C826D-3065-86F5-C374-1744739D3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4173" y="5674776"/>
            <a:ext cx="2008217" cy="2008268"/>
          </a:xfrm>
          <a:prstGeom prst="rect">
            <a:avLst/>
          </a:prstGeom>
        </p:spPr>
      </p:pic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EE82ACC9-012B-FC4B-45B0-8EF506210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16204">
            <a:off x="-375835" y="805017"/>
            <a:ext cx="1015027" cy="111035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B01935E-E78D-FB60-E113-9D612495BB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465" y="1360195"/>
            <a:ext cx="10161069" cy="4770582"/>
          </a:xfrm>
          <a:prstGeom prst="round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D13EEE9-EFA8-26A4-FB03-6B108F9E2E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896839" y="2056818"/>
            <a:ext cx="6559488" cy="3729905"/>
          </a:xfrm>
          <a:prstGeom prst="round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0B9AFE2-178F-501D-DB93-339FA847EE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29350" y="1795061"/>
            <a:ext cx="4887363" cy="3702744"/>
          </a:xfrm>
          <a:prstGeom prst="round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9A55501-B12E-A807-63AB-CF0C3966A4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4388" y="-4918476"/>
            <a:ext cx="10583118" cy="458192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6012813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2DA9E-B7A4-93B4-F927-D92C72C43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7">
            <a:extLst>
              <a:ext uri="{FF2B5EF4-FFF2-40B4-BE49-F238E27FC236}">
                <a16:creationId xmlns:a16="http://schemas.microsoft.com/office/drawing/2014/main" id="{B2A104BF-677A-8805-79ED-3552E060DFF8}"/>
              </a:ext>
            </a:extLst>
          </p:cNvPr>
          <p:cNvSpPr/>
          <p:nvPr/>
        </p:nvSpPr>
        <p:spPr>
          <a:xfrm>
            <a:off x="4971330" y="179090"/>
            <a:ext cx="2858520" cy="251420"/>
          </a:xfrm>
          <a:prstGeom prst="rect">
            <a:avLst/>
          </a:prstGeom>
          <a:noFill/>
          <a:ln/>
        </p:spPr>
        <p:txBody>
          <a:bodyPr wrap="none" lIns="114297" tIns="38099" rIns="76198" bIns="38099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kern="100" spc="320" dirty="0">
                <a:solidFill>
                  <a:srgbClr val="11111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ГОРБАТКА.ЛЕКТОРИЙ</a:t>
            </a:r>
            <a:endParaRPr lang="en-US" sz="10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F967511E-2E26-B40F-D310-D4941EC63C36}"/>
              </a:ext>
            </a:extLst>
          </p:cNvPr>
          <p:cNvSpPr/>
          <p:nvPr/>
        </p:nvSpPr>
        <p:spPr>
          <a:xfrm>
            <a:off x="181566" y="165100"/>
            <a:ext cx="27939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ru-RU" sz="1000" dirty="0">
                <a:solidFill>
                  <a:srgbClr val="11111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11</a:t>
            </a:r>
            <a:endParaRPr lang="en-US" sz="100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AF0474D8-5633-AE2F-6158-4BF8A29C740D}"/>
              </a:ext>
            </a:extLst>
          </p:cNvPr>
          <p:cNvSpPr/>
          <p:nvPr/>
        </p:nvSpPr>
        <p:spPr>
          <a:xfrm>
            <a:off x="4253364" y="482598"/>
            <a:ext cx="3685272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ru-RU" sz="3000" kern="100" spc="-90" dirty="0">
                <a:solidFill>
                  <a:srgbClr val="111111"/>
                </a:solidFill>
                <a:latin typeface="Noto Sans Black" pitchFamily="34" charset="0"/>
                <a:ea typeface="Noto Sans Black" pitchFamily="34" charset="-122"/>
                <a:cs typeface="Noto Sans Black" pitchFamily="34" charset="0"/>
              </a:rPr>
              <a:t>ЗАМЕТКИ И ПОИСК</a:t>
            </a:r>
            <a:endParaRPr lang="en-US" sz="3000" dirty="0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AD2349F9-C263-77C4-3ED2-8BD3F73C5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4605" y="5507968"/>
            <a:ext cx="2008217" cy="2008268"/>
          </a:xfrm>
          <a:prstGeom prst="rect">
            <a:avLst/>
          </a:prstGeom>
        </p:spPr>
      </p:pic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EABF2724-2E10-54DB-85A6-929D075C0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16204">
            <a:off x="961010" y="624042"/>
            <a:ext cx="1015027" cy="1110357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66796CE-1B9D-D9E5-E0C6-2B919BA5F5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566" y="1848682"/>
            <a:ext cx="6559488" cy="3729905"/>
          </a:xfrm>
          <a:prstGeom prst="round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297F09D-2B72-113F-F552-DC23E8E552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3070" y="1875844"/>
            <a:ext cx="4887363" cy="3702744"/>
          </a:xfrm>
          <a:prstGeom prst="round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28A9D88-CD14-1412-FCB1-EC02620A41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6235" y="-5093559"/>
            <a:ext cx="10161069" cy="4770582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0545999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16204">
            <a:off x="69193" y="5163193"/>
            <a:ext cx="1015027" cy="1110357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60383" y="612903"/>
            <a:ext cx="10870928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2800" kern="100" spc="-84" dirty="0">
                <a:solidFill>
                  <a:srgbClr val="111111"/>
                </a:solidFill>
                <a:latin typeface="Noto Sans Black" pitchFamily="34" charset="0"/>
                <a:ea typeface="Noto Sans Black" pitchFamily="34" charset="-122"/>
                <a:cs typeface="Noto Sans Black" pitchFamily="34" charset="0"/>
              </a:rPr>
              <a:t>ПРЕИМУЩЕСТВА И ПРАКТИЧЕСКАЯ ЦЕННОСТЬ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60383" y="1066605"/>
            <a:ext cx="11480513" cy="271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Эффективность, безопасность и суверенитет технологий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63540" y="1621900"/>
            <a:ext cx="76198" cy="115721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914377" y="1625984"/>
            <a:ext cx="4851279" cy="1707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100% Offline и безопасность </a:t>
            </a:r>
            <a:r>
              <a:rPr lang="en-US" b="1" dirty="0" err="1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данных</a:t>
            </a:r>
            <a:r>
              <a:rPr lang="en-US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:</a:t>
            </a:r>
            <a:br>
              <a:rPr lang="ru-RU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</a:br>
            <a:r>
              <a:rPr lang="en-US" dirty="0" err="1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Ни</a:t>
            </a:r>
            <a:r>
              <a:rPr lang="en-US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один байт видео или текста не передается наружу. Подходит для закрытых вузов и корпораций.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59256" y="1625984"/>
            <a:ext cx="4851279" cy="1455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Нулевые затраты на эксплуатацию: </a:t>
            </a:r>
            <a:br>
              <a:rPr lang="ru-RU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</a:br>
            <a:r>
              <a:rPr lang="en-US" dirty="0" err="1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Нет</a:t>
            </a:r>
            <a:r>
              <a:rPr lang="en-US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подписок, нет биллинга за токены, нет привязки к зарубежным провайдерам.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63540" y="3643498"/>
            <a:ext cx="76198" cy="115721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838484" y="3643498"/>
            <a:ext cx="4851279" cy="1378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b="1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Каскадная отказоустойчивость: </a:t>
            </a:r>
            <a:r>
              <a:rPr lang="en-US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Работает как на мощных серверах с GPU, так и на стандартных офисных ПК благодаря интеллектуальным фоллбэкам.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978682" y="3624006"/>
            <a:ext cx="5283068" cy="1176709"/>
          </a:xfrm>
          <a:prstGeom prst="rect">
            <a:avLst/>
          </a:prstGeom>
          <a:noFill/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6213319" y="3643498"/>
            <a:ext cx="4902077" cy="1378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Колоссальная экономия времени: </a:t>
            </a:r>
            <a:r>
              <a:rPr lang="en-US" b="1" dirty="0">
                <a:latin typeface="Noto Sans" pitchFamily="34" charset="0"/>
                <a:ea typeface="Noto Sans" pitchFamily="34" charset="-122"/>
                <a:cs typeface="Noto Sans" pitchFamily="34" charset="0"/>
              </a:rPr>
              <a:t>90 минут видео превращаются в 10 минут </a:t>
            </a:r>
            <a:r>
              <a:rPr lang="en-US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структурированного изучения ключевых тезисов.</a:t>
            </a:r>
            <a:endParaRPr lang="en-US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758" y="3569639"/>
            <a:ext cx="5352916" cy="127858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81566" y="165100"/>
            <a:ext cx="27939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ru-RU" sz="1000" dirty="0">
                <a:solidFill>
                  <a:srgbClr val="11111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12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971330" y="179090"/>
            <a:ext cx="2858520" cy="251420"/>
          </a:xfrm>
          <a:prstGeom prst="rect">
            <a:avLst/>
          </a:prstGeom>
          <a:noFill/>
          <a:ln/>
        </p:spPr>
        <p:txBody>
          <a:bodyPr wrap="none" lIns="114297" tIns="38099" rIns="76198" bIns="38099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kern="100" spc="320" dirty="0">
                <a:solidFill>
                  <a:srgbClr val="11111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ГОРБАТКА.ЛЕКТОРИЙ</a:t>
            </a:r>
            <a:endParaRPr lang="en-US" sz="10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4848" y="-6759"/>
            <a:ext cx="1832447" cy="1832492"/>
          </a:xfrm>
          <a:prstGeom prst="rect">
            <a:avLst/>
          </a:prstGeom>
        </p:spPr>
      </p:pic>
      <p:sp>
        <p:nvSpPr>
          <p:cNvPr id="23" name="Shape 2">
            <a:extLst>
              <a:ext uri="{FF2B5EF4-FFF2-40B4-BE49-F238E27FC236}">
                <a16:creationId xmlns:a16="http://schemas.microsoft.com/office/drawing/2014/main" id="{9A5EA873-B13C-64FB-0D08-96D69161DEA5}"/>
              </a:ext>
            </a:extLst>
          </p:cNvPr>
          <p:cNvSpPr/>
          <p:nvPr/>
        </p:nvSpPr>
        <p:spPr>
          <a:xfrm>
            <a:off x="5924357" y="1621899"/>
            <a:ext cx="76198" cy="115721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381FDA1-4794-CC32-CE91-432D387E24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52179" y="1988466"/>
            <a:ext cx="6559488" cy="3729905"/>
          </a:xfrm>
          <a:prstGeom prst="round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906C8A7-3486-DC2A-0E37-28747C6A54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5519491" y="1988466"/>
            <a:ext cx="4887363" cy="3702744"/>
          </a:xfrm>
          <a:prstGeom prst="round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9B481A2-B910-4322-3AB7-6AEDECAF28F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5771504" y="1988466"/>
            <a:ext cx="5586399" cy="3709475"/>
          </a:xfrm>
          <a:prstGeom prst="round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7858FCE-07E4-47D4-5BFB-7B2CE2E9253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26614" y="2008896"/>
            <a:ext cx="5608311" cy="3709475"/>
          </a:xfrm>
          <a:prstGeom prst="round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12">
            <a:extLst>
              <a:ext uri="{FF2B5EF4-FFF2-40B4-BE49-F238E27FC236}">
                <a16:creationId xmlns:a16="http://schemas.microsoft.com/office/drawing/2014/main" id="{DBF16D56-492C-1134-2F6C-EFC8F8C80C55}"/>
              </a:ext>
            </a:extLst>
          </p:cNvPr>
          <p:cNvSpPr/>
          <p:nvPr/>
        </p:nvSpPr>
        <p:spPr>
          <a:xfrm>
            <a:off x="181566" y="165100"/>
            <a:ext cx="27939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ru-RU" sz="1000" dirty="0">
                <a:solidFill>
                  <a:srgbClr val="11111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13</a:t>
            </a:r>
            <a:endParaRPr lang="en-US" sz="1000" dirty="0"/>
          </a:p>
        </p:txBody>
      </p:sp>
      <p:sp>
        <p:nvSpPr>
          <p:cNvPr id="7" name="Text 13">
            <a:extLst>
              <a:ext uri="{FF2B5EF4-FFF2-40B4-BE49-F238E27FC236}">
                <a16:creationId xmlns:a16="http://schemas.microsoft.com/office/drawing/2014/main" id="{AFCA4D3E-1D33-5FA6-910F-8DA6B87A81E0}"/>
              </a:ext>
            </a:extLst>
          </p:cNvPr>
          <p:cNvSpPr/>
          <p:nvPr/>
        </p:nvSpPr>
        <p:spPr>
          <a:xfrm>
            <a:off x="4971330" y="179090"/>
            <a:ext cx="2858520" cy="251420"/>
          </a:xfrm>
          <a:prstGeom prst="rect">
            <a:avLst/>
          </a:prstGeom>
          <a:noFill/>
          <a:ln/>
        </p:spPr>
        <p:txBody>
          <a:bodyPr wrap="none" lIns="114297" tIns="38099" rIns="76198" bIns="38099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kern="100" spc="320" dirty="0">
                <a:solidFill>
                  <a:srgbClr val="11111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ГОРБАТКА.ЛЕКТОРИЙ</a:t>
            </a:r>
            <a:endParaRPr lang="en-US" sz="1000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79C80B74-F5A1-F93F-37C5-15A0F8FC2855}"/>
              </a:ext>
            </a:extLst>
          </p:cNvPr>
          <p:cNvSpPr/>
          <p:nvPr/>
        </p:nvSpPr>
        <p:spPr>
          <a:xfrm>
            <a:off x="1770315" y="2044699"/>
            <a:ext cx="10870928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ru-RU" sz="3000" kern="100" spc="-90" dirty="0">
                <a:solidFill>
                  <a:srgbClr val="111111"/>
                </a:solidFill>
                <a:latin typeface="Noto Sans Black" pitchFamily="34" charset="0"/>
                <a:ea typeface="Noto Sans Black" pitchFamily="34" charset="-122"/>
                <a:cs typeface="Noto Sans Black" pitchFamily="34" charset="0"/>
              </a:rPr>
              <a:t>КОНСПЕКТ</a:t>
            </a:r>
            <a:endParaRPr lang="en-US" sz="3000" dirty="0"/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2F62645B-94BE-47B3-A807-6797A5DFC24F}"/>
              </a:ext>
            </a:extLst>
          </p:cNvPr>
          <p:cNvSpPr/>
          <p:nvPr/>
        </p:nvSpPr>
        <p:spPr>
          <a:xfrm>
            <a:off x="8113965" y="2016124"/>
            <a:ext cx="10870928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ru-RU" sz="3000" kern="100" spc="-90" dirty="0">
                <a:solidFill>
                  <a:srgbClr val="111111"/>
                </a:solidFill>
                <a:latin typeface="Noto Sans Black" pitchFamily="34" charset="0"/>
                <a:ea typeface="Noto Sans Black" pitchFamily="34" charset="-122"/>
                <a:cs typeface="Noto Sans Black" pitchFamily="34" charset="0"/>
              </a:rPr>
              <a:t>ГЛОССАРИЙ</a:t>
            </a:r>
            <a:endParaRPr lang="en-US" sz="3000"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D0C641E5-9838-9CB0-0D8A-B5FC17793AEA}"/>
              </a:ext>
            </a:extLst>
          </p:cNvPr>
          <p:cNvSpPr/>
          <p:nvPr/>
        </p:nvSpPr>
        <p:spPr>
          <a:xfrm>
            <a:off x="3675984" y="666105"/>
            <a:ext cx="516388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ru-RU" sz="3000" kern="100" spc="-90" dirty="0">
                <a:solidFill>
                  <a:srgbClr val="111111"/>
                </a:solidFill>
                <a:latin typeface="Noto Sans Black" pitchFamily="34" charset="0"/>
                <a:ea typeface="Noto Sans Black" pitchFamily="34" charset="-122"/>
                <a:cs typeface="Noto Sans Black" pitchFamily="34" charset="0"/>
              </a:rPr>
              <a:t>ВКЛАДКИ ПОД ЛЕКЦИЯМИ</a:t>
            </a:r>
            <a:endParaRPr lang="en-US" sz="3000" dirty="0"/>
          </a:p>
        </p:txBody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1EFA7532-A761-A943-4B39-E5B7AD50E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3235" y="132472"/>
            <a:ext cx="1832447" cy="1832492"/>
          </a:xfrm>
          <a:prstGeom prst="rect">
            <a:avLst/>
          </a:prstGeom>
        </p:spPr>
      </p:pic>
      <p:pic>
        <p:nvPicPr>
          <p:cNvPr id="15" name="Image 2" descr="preencoded.png">
            <a:extLst>
              <a:ext uri="{FF2B5EF4-FFF2-40B4-BE49-F238E27FC236}">
                <a16:creationId xmlns:a16="http://schemas.microsoft.com/office/drawing/2014/main" id="{DD27CABB-DB7C-B7BA-931B-088AEB786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97150" y="666105"/>
            <a:ext cx="1832447" cy="183249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BD7EF1D-5071-2AB8-0716-3A55007A8D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073" y="2720201"/>
            <a:ext cx="5586399" cy="3709475"/>
          </a:xfrm>
          <a:prstGeom prst="round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7D01ED0D-1954-E5D0-FD13-8707F5B4BC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6528" y="2720201"/>
            <a:ext cx="5608311" cy="3709475"/>
          </a:xfrm>
          <a:prstGeom prst="round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75E6AC7-2948-A66E-9A44-99B35AE8E8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9804" y="7132673"/>
            <a:ext cx="7736244" cy="4524289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0067339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70DA2-2579-61C2-047E-294BCC2DB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12">
            <a:extLst>
              <a:ext uri="{FF2B5EF4-FFF2-40B4-BE49-F238E27FC236}">
                <a16:creationId xmlns:a16="http://schemas.microsoft.com/office/drawing/2014/main" id="{39DEC0E0-EAD8-3A39-54D1-7733D3328A3F}"/>
              </a:ext>
            </a:extLst>
          </p:cNvPr>
          <p:cNvSpPr/>
          <p:nvPr/>
        </p:nvSpPr>
        <p:spPr>
          <a:xfrm>
            <a:off x="181566" y="165100"/>
            <a:ext cx="27939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ru-RU" sz="1000" dirty="0">
                <a:solidFill>
                  <a:srgbClr val="11111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14</a:t>
            </a:r>
            <a:endParaRPr lang="en-US" sz="1000" dirty="0"/>
          </a:p>
        </p:txBody>
      </p:sp>
      <p:sp>
        <p:nvSpPr>
          <p:cNvPr id="7" name="Text 13">
            <a:extLst>
              <a:ext uri="{FF2B5EF4-FFF2-40B4-BE49-F238E27FC236}">
                <a16:creationId xmlns:a16="http://schemas.microsoft.com/office/drawing/2014/main" id="{F96E3B68-87BD-BCCD-515B-D7B61B8CB757}"/>
              </a:ext>
            </a:extLst>
          </p:cNvPr>
          <p:cNvSpPr/>
          <p:nvPr/>
        </p:nvSpPr>
        <p:spPr>
          <a:xfrm>
            <a:off x="4971330" y="179090"/>
            <a:ext cx="2858520" cy="251420"/>
          </a:xfrm>
          <a:prstGeom prst="rect">
            <a:avLst/>
          </a:prstGeom>
          <a:noFill/>
          <a:ln/>
        </p:spPr>
        <p:txBody>
          <a:bodyPr wrap="none" lIns="114297" tIns="38099" rIns="76198" bIns="38099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kern="100" spc="320" dirty="0">
                <a:solidFill>
                  <a:srgbClr val="11111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ГОРБАТКА.ЛЕКТОРИЙ</a:t>
            </a:r>
            <a:endParaRPr lang="en-US" sz="1000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6DE38787-4F22-0414-A181-B8F8F50A07C3}"/>
              </a:ext>
            </a:extLst>
          </p:cNvPr>
          <p:cNvSpPr/>
          <p:nvPr/>
        </p:nvSpPr>
        <p:spPr>
          <a:xfrm>
            <a:off x="5582695" y="1626013"/>
            <a:ext cx="102661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ru-RU" sz="3000" kern="100" spc="-90" dirty="0">
                <a:solidFill>
                  <a:srgbClr val="111111"/>
                </a:solidFill>
                <a:latin typeface="Noto Sans Black" pitchFamily="34" charset="0"/>
                <a:ea typeface="Noto Sans Black" pitchFamily="34" charset="-122"/>
                <a:cs typeface="Noto Sans Black" pitchFamily="34" charset="0"/>
              </a:rPr>
              <a:t>КВИЗ</a:t>
            </a:r>
            <a:endParaRPr lang="en-US" sz="3000"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BDD20618-AC89-D756-6D34-3550B85E8782}"/>
              </a:ext>
            </a:extLst>
          </p:cNvPr>
          <p:cNvSpPr/>
          <p:nvPr/>
        </p:nvSpPr>
        <p:spPr>
          <a:xfrm>
            <a:off x="3675984" y="666105"/>
            <a:ext cx="516388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ru-RU" sz="3000" kern="100" spc="-90" dirty="0">
                <a:solidFill>
                  <a:srgbClr val="111111"/>
                </a:solidFill>
                <a:latin typeface="Noto Sans Black" pitchFamily="34" charset="0"/>
                <a:ea typeface="Noto Sans Black" pitchFamily="34" charset="-122"/>
                <a:cs typeface="Noto Sans Black" pitchFamily="34" charset="0"/>
              </a:rPr>
              <a:t>ВКЛАДКИ ПОД ЛЕКЦИЯМИ</a:t>
            </a:r>
            <a:endParaRPr lang="en-US" sz="3000" dirty="0"/>
          </a:p>
        </p:txBody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885694D7-1581-0699-DC6D-966451930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859524">
            <a:off x="81397" y="1478499"/>
            <a:ext cx="1832447" cy="1832492"/>
          </a:xfrm>
          <a:prstGeom prst="rect">
            <a:avLst/>
          </a:prstGeom>
        </p:spPr>
      </p:pic>
      <p:pic>
        <p:nvPicPr>
          <p:cNvPr id="15" name="Image 2" descr="preencoded.png">
            <a:extLst>
              <a:ext uri="{FF2B5EF4-FFF2-40B4-BE49-F238E27FC236}">
                <a16:creationId xmlns:a16="http://schemas.microsoft.com/office/drawing/2014/main" id="{D8FF831D-A308-3867-0003-26F13C509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136810">
            <a:off x="10359553" y="4330138"/>
            <a:ext cx="1832447" cy="1832492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87FC92D-4423-7D58-FE93-29E9757FF5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7878" y="2067994"/>
            <a:ext cx="7736244" cy="4524289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7627696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9">
            <a:extLst>
              <a:ext uri="{FF2B5EF4-FFF2-40B4-BE49-F238E27FC236}">
                <a16:creationId xmlns:a16="http://schemas.microsoft.com/office/drawing/2014/main" id="{CDE504FA-D0DF-3F2C-D464-D14998E85A3C}"/>
              </a:ext>
            </a:extLst>
          </p:cNvPr>
          <p:cNvSpPr/>
          <p:nvPr/>
        </p:nvSpPr>
        <p:spPr>
          <a:xfrm>
            <a:off x="9158705" y="3854053"/>
            <a:ext cx="28574" cy="406400"/>
          </a:xfrm>
          <a:prstGeom prst="roundRect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26420">
            <a:off x="219866" y="4987524"/>
            <a:ext cx="1518919" cy="1659358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60383" y="675005"/>
            <a:ext cx="10870928" cy="386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200" kern="100" spc="-96" dirty="0">
                <a:solidFill>
                  <a:srgbClr val="111111"/>
                </a:solidFill>
                <a:latin typeface="Noto Sans Black" pitchFamily="34" charset="0"/>
                <a:ea typeface="Noto Sans Black" pitchFamily="34" charset="-122"/>
                <a:cs typeface="Noto Sans Black" pitchFamily="34" charset="0"/>
              </a:rPr>
              <a:t>ПЕРСПЕКТИВЫ РАЗВИТИЯ И ДОРОЖНАЯ КАРТА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60383" y="1207242"/>
            <a:ext cx="11480513" cy="385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От MVP к комплексной образовательной экосистеме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60383" y="3839766"/>
            <a:ext cx="10870928" cy="28575"/>
          </a:xfrm>
          <a:prstGeom prst="roundRect">
            <a:avLst>
              <a:gd name="adj" fmla="val 49999"/>
            </a:avLst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2744024" y="3433366"/>
            <a:ext cx="28574" cy="406400"/>
          </a:xfrm>
          <a:prstGeom prst="roundRect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2682113" y="3763566"/>
            <a:ext cx="152396" cy="1524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863578" y="2108597"/>
            <a:ext cx="3789565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Мультимодальный анализ (VLM): Распознавание презентаций, схем и формул на доске через компьютерное зрение (OCR/Vision).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968949" y="3839766"/>
            <a:ext cx="28574" cy="406400"/>
          </a:xfrm>
          <a:prstGeom prst="roundRect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4907038" y="3763566"/>
            <a:ext cx="152396" cy="1524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3088503" y="4449366"/>
            <a:ext cx="3789565" cy="1401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ru-RU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Интеллектуальный граф знаний: Автоматическое построение связей между лекциями разных дисциплин и выстраивание пути обучения.</a:t>
            </a:r>
            <a:endParaRPr lang="en-US" sz="16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193973" y="3433366"/>
            <a:ext cx="28574" cy="406400"/>
          </a:xfrm>
          <a:prstGeom prst="roundRect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7132062" y="3763566"/>
            <a:ext cx="152396" cy="1524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5313527" y="2108597"/>
            <a:ext cx="3789565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Интеграция с LMS: Поддержка стандартов LTI и SCORM для легкого встраивания в Moodle, Stepik и ВУЗовские порталы.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81566" y="165100"/>
            <a:ext cx="27939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ru-RU" sz="1000" dirty="0">
                <a:solidFill>
                  <a:srgbClr val="11111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15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71330" y="179090"/>
            <a:ext cx="2858520" cy="251420"/>
          </a:xfrm>
          <a:prstGeom prst="rect">
            <a:avLst/>
          </a:prstGeom>
          <a:noFill/>
          <a:ln/>
        </p:spPr>
        <p:txBody>
          <a:bodyPr wrap="none" lIns="114297" tIns="38099" rIns="76198" bIns="38099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kern="100" spc="320" dirty="0">
                <a:solidFill>
                  <a:srgbClr val="11111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ГОРБАТКА.ЛЕКТОРИЙ</a:t>
            </a:r>
            <a:endParaRPr lang="en-US" sz="1000" dirty="0"/>
          </a:p>
        </p:txBody>
      </p:sp>
      <p:pic>
        <p:nvPicPr>
          <p:cNvPr id="23" name="Image 1" descr="preencoded.png">
            <a:extLst>
              <a:ext uri="{FF2B5EF4-FFF2-40B4-BE49-F238E27FC236}">
                <a16:creationId xmlns:a16="http://schemas.microsoft.com/office/drawing/2014/main" id="{59331D69-1868-E729-6C15-346E537D83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2970" y="0"/>
            <a:ext cx="1947926" cy="2098451"/>
          </a:xfrm>
          <a:prstGeom prst="rect">
            <a:avLst/>
          </a:prstGeom>
        </p:spPr>
      </p:pic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2B905A6-2E50-0BBF-7641-B0077AF3F195}"/>
              </a:ext>
            </a:extLst>
          </p:cNvPr>
          <p:cNvSpPr/>
          <p:nvPr/>
        </p:nvSpPr>
        <p:spPr>
          <a:xfrm>
            <a:off x="660383" y="7013590"/>
            <a:ext cx="11430001" cy="7524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8AB6AA0-5C5F-4306-7BBB-12D33F3CD2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980" y="-4571950"/>
            <a:ext cx="7736244" cy="4524289"/>
          </a:xfrm>
          <a:prstGeom prst="roundRect">
            <a:avLst/>
          </a:prstGeom>
        </p:spPr>
      </p:pic>
      <p:sp>
        <p:nvSpPr>
          <p:cNvPr id="24" name="Shape 10">
            <a:extLst>
              <a:ext uri="{FF2B5EF4-FFF2-40B4-BE49-F238E27FC236}">
                <a16:creationId xmlns:a16="http://schemas.microsoft.com/office/drawing/2014/main" id="{FB9681A1-1755-D024-E72D-C499A0732442}"/>
              </a:ext>
            </a:extLst>
          </p:cNvPr>
          <p:cNvSpPr/>
          <p:nvPr/>
        </p:nvSpPr>
        <p:spPr>
          <a:xfrm>
            <a:off x="9103092" y="3764577"/>
            <a:ext cx="152396" cy="1524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D98A035E-8FD9-0E1C-EBD4-899017363B17}"/>
              </a:ext>
            </a:extLst>
          </p:cNvPr>
          <p:cNvSpPr/>
          <p:nvPr/>
        </p:nvSpPr>
        <p:spPr>
          <a:xfrm>
            <a:off x="7222547" y="4453483"/>
            <a:ext cx="3789565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ru-RU" sz="16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Автономный коробочный сервер: Развертывание системы в локальной сети вуза с единой медиатекой для всех факультетов.</a:t>
            </a:r>
            <a:endParaRPr lang="en-US" sz="16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1566" y="165100"/>
            <a:ext cx="27939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ru-RU" sz="1000" dirty="0">
                <a:solidFill>
                  <a:srgbClr val="11111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971330" y="179090"/>
            <a:ext cx="2858520" cy="251420"/>
          </a:xfrm>
          <a:prstGeom prst="rect">
            <a:avLst/>
          </a:prstGeom>
          <a:noFill/>
          <a:ln/>
        </p:spPr>
        <p:txBody>
          <a:bodyPr wrap="none" lIns="114297" tIns="38099" rIns="76198" bIns="38099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kern="100" spc="320" dirty="0">
                <a:solidFill>
                  <a:srgbClr val="11111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ГОРБАТКА.ЛЕКТОРИЙ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5975" y="1307783"/>
            <a:ext cx="7010225" cy="579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800" kern="100" spc="-144" dirty="0">
                <a:solidFill>
                  <a:srgbClr val="111111"/>
                </a:solidFill>
                <a:latin typeface="Noto Sans Black" pitchFamily="34" charset="0"/>
                <a:ea typeface="Noto Sans Black" pitchFamily="34" charset="-122"/>
                <a:cs typeface="Noto Sans Black" pitchFamily="34" charset="0"/>
              </a:rPr>
              <a:t>КОД НА GITHUB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15975" y="3363423"/>
            <a:ext cx="7619809" cy="385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ru-RU" sz="2400" dirty="0"/>
              <a:t>Исходный код и документация по запуску</a:t>
            </a:r>
            <a:r>
              <a:rPr lang="en-US" sz="2400" dirty="0"/>
              <a:t>: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65176" y="3810000"/>
            <a:ext cx="7111822" cy="812800"/>
          </a:xfrm>
          <a:prstGeom prst="roundRect">
            <a:avLst>
              <a:gd name="adj" fmla="val 26249"/>
            </a:avLst>
          </a:prstGeom>
          <a:solidFill>
            <a:srgbClr val="11111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1269968" y="3970020"/>
            <a:ext cx="7111822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https://github.com/Kelbr1/hakaton2026/tree/main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584985" y="1651000"/>
            <a:ext cx="2920927" cy="2921000"/>
          </a:xfrm>
          <a:prstGeom prst="roundRect">
            <a:avLst>
              <a:gd name="adj" fmla="val 6261"/>
            </a:avLst>
          </a:prstGeom>
          <a:solidFill>
            <a:srgbClr val="FFFFFF"/>
          </a:solidFill>
          <a:ln w="101598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8330992" y="4786821"/>
            <a:ext cx="3428914" cy="3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QR-код репозитория</a:t>
            </a:r>
            <a:endParaRPr lang="en-US" sz="18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3739" y="228600"/>
            <a:ext cx="1574761" cy="1574800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788" y="4679302"/>
            <a:ext cx="1947926" cy="2098451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шаблон, прямоугольный, пиксель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ADBC480-4FDB-7B88-0B33-EC548D6EC5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7660" y="1763712"/>
            <a:ext cx="2695575" cy="26955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1566" y="165100"/>
            <a:ext cx="27939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ru-RU" sz="1000" dirty="0">
                <a:solidFill>
                  <a:srgbClr val="11111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971330" y="179090"/>
            <a:ext cx="2858520" cy="251420"/>
          </a:xfrm>
          <a:prstGeom prst="rect">
            <a:avLst/>
          </a:prstGeom>
          <a:noFill/>
          <a:ln/>
        </p:spPr>
        <p:txBody>
          <a:bodyPr wrap="none" lIns="114297" tIns="38099" rIns="76198" bIns="38099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kern="100" spc="320" dirty="0">
                <a:solidFill>
                  <a:srgbClr val="11111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ГОРБАТКА.ЛЕКТОРИЙ</a:t>
            </a:r>
            <a:endParaRPr lang="en-US" sz="1000" dirty="0"/>
          </a:p>
        </p:txBody>
      </p:sp>
      <p:sp>
        <p:nvSpPr>
          <p:cNvPr id="7" name="Shape 2"/>
          <p:cNvSpPr/>
          <p:nvPr/>
        </p:nvSpPr>
        <p:spPr>
          <a:xfrm rot="21480000">
            <a:off x="888978" y="2082800"/>
            <a:ext cx="10413739" cy="2230041"/>
          </a:xfrm>
          <a:prstGeom prst="rect">
            <a:avLst/>
          </a:prstGeom>
          <a:noFill/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3"/>
          <p:cNvSpPr/>
          <p:nvPr/>
        </p:nvSpPr>
        <p:spPr>
          <a:xfrm rot="21480000">
            <a:off x="1282668" y="2425700"/>
            <a:ext cx="9626359" cy="154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6400" kern="100" spc="-192" dirty="0">
                <a:solidFill>
                  <a:srgbClr val="111111"/>
                </a:solidFill>
                <a:latin typeface="Noto Sans Black" pitchFamily="34" charset="0"/>
                <a:ea typeface="Noto Sans Black" pitchFamily="34" charset="-122"/>
                <a:cs typeface="Noto Sans Black" pitchFamily="34" charset="0"/>
              </a:rPr>
              <a:t>СПАСИБО ЗА ВНИМАНИЕ!</a:t>
            </a:r>
            <a:endParaRPr lang="en-US" sz="64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80000">
            <a:off x="854052" y="2047875"/>
            <a:ext cx="10483588" cy="229979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295368" y="4560126"/>
            <a:ext cx="10210545" cy="403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3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Команда «Горбатка» | Готовы ответить на ваши вопросы</a:t>
            </a:r>
            <a:endParaRPr lang="en-US" sz="23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2909" y="5994400"/>
            <a:ext cx="279393" cy="584200"/>
          </a:xfrm>
          <a:prstGeom prst="rect">
            <a:avLst/>
          </a:prstGeom>
        </p:spPr>
      </p:pic>
      <p:pic>
        <p:nvPicPr>
          <p:cNvPr id="14" name="Image 2" descr="preencoded.png">
            <a:extLst>
              <a:ext uri="{FF2B5EF4-FFF2-40B4-BE49-F238E27FC236}">
                <a16:creationId xmlns:a16="http://schemas.microsoft.com/office/drawing/2014/main" id="{38B8BA6C-35F5-8EE0-8545-3BD9466820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236" y="116229"/>
            <a:ext cx="1832447" cy="1832492"/>
          </a:xfrm>
          <a:prstGeom prst="rect">
            <a:avLst/>
          </a:prstGeom>
        </p:spPr>
      </p:pic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E1C01046-03BA-ADBC-0184-0FDDCC11F5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15834" y="4963153"/>
            <a:ext cx="1865896" cy="1865942"/>
          </a:xfrm>
          <a:prstGeom prst="rect">
            <a:avLst/>
          </a:prstGeom>
        </p:spPr>
      </p:pic>
      <p:pic>
        <p:nvPicPr>
          <p:cNvPr id="16" name="Image 0" descr="preencoded.png">
            <a:extLst>
              <a:ext uri="{FF2B5EF4-FFF2-40B4-BE49-F238E27FC236}">
                <a16:creationId xmlns:a16="http://schemas.microsoft.com/office/drawing/2014/main" id="{7F5515C1-8570-A616-82CF-A4AD5FE9F8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4413" y="165100"/>
            <a:ext cx="2373055" cy="150601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816</Words>
  <Application>Microsoft Office PowerPoint</Application>
  <PresentationFormat>Широкоэкранный</PresentationFormat>
  <Paragraphs>121</Paragraphs>
  <Slides>17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4" baseType="lpstr">
      <vt:lpstr>Noto Sans</vt:lpstr>
      <vt:lpstr>Noto Sans ExtraBold</vt:lpstr>
      <vt:lpstr>Noto Sans Black</vt:lpstr>
      <vt:lpstr>Arial</vt:lpstr>
      <vt:lpstr>Noto Sans Bold</vt:lpstr>
      <vt:lpstr>Noto Sans SemiBold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Elvi Fir</cp:lastModifiedBy>
  <cp:revision>45</cp:revision>
  <dcterms:created xsi:type="dcterms:W3CDTF">2026-10-27T17:50:22Z</dcterms:created>
  <dcterms:modified xsi:type="dcterms:W3CDTF">2026-10-28T10:10:42Z</dcterms:modified>
</cp:coreProperties>
</file>